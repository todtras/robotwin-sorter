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4" d="100"/>
          <a:sy n="114" d="100"/>
        </p:scale>
        <p:origin x="318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54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46304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280160" y="32918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 인턴 프로젝트 제안 발표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Georgia" pitchFamily="34" charset="0"/>
              </a:rPr>
              <a:t>분리수거 로봇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E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YOLO와 디지털 트윈으로 만드는 분리수거 자동 분류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21945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김태익  </a:t>
            </a:r>
            <a:r>
              <a:rPr lang="en-US" sz="130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제어   ·   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윤주연  </a:t>
            </a:r>
            <a:r>
              <a:rPr lang="en-US" sz="130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  ·   </a:t>
            </a: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진선우  </a:t>
            </a:r>
            <a:r>
              <a:rPr lang="en-US" sz="130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트윈 통합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프로젝트를 시작했는가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243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8100000" algn="bl" rotWithShape="0">
              <a:srgbClr val="0B3D3A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58952" y="2075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15" y="221175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280720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r>
              <a:rPr lang="en-US" sz="14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쌓이는</a:t>
            </a:r>
            <a:r>
              <a:rPr lang="en-US" sz="1450" dirty="0"/>
              <a:t> </a:t>
            </a:r>
            <a:r>
              <a:rPr lang="en-US" sz="145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폐기물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8952" y="311092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페트병, 캔, 각종 포장재가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쌓이지만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1050" dirty="0"/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분리수거는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결국 사람이 눈으로 보고 손으로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작업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1783080"/>
            <a:ext cx="26243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8100000" algn="bl" rotWithShape="0">
              <a:srgbClr val="0B3D3A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566160" y="2075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223" y="221175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80720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자동화가</a:t>
            </a:r>
            <a:r>
              <a:rPr lang="en-US" sz="1450" dirty="0"/>
              <a:t> </a:t>
            </a:r>
            <a:r>
              <a:rPr lang="en-US" sz="145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가능할까</a:t>
            </a:r>
            <a:r>
              <a:rPr lang="en-US" sz="14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66160" y="311092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인식(비전) · 판단(제어) · 실행(로봇)이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</a:t>
            </a:r>
            <a:r>
              <a:rPr lang="en-US" sz="1050" dirty="0"/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대표적인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문제라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실습 주제로 적합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17336" y="1783080"/>
            <a:ext cx="26243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blurRad="101600" dist="38100" dir="8100000" algn="bl" rotWithShape="0">
              <a:srgbClr val="0B3D3A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373368" y="2075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431" y="2211751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280720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협업이 가능한</a:t>
            </a:r>
            <a:r>
              <a:rPr lang="en-US" sz="14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주제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73368" y="311092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비전, 좌표 변환·통합, 로봇 제어로 역할이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자연스럽게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나뉘고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인터페이스만 맞으면 병렬로 개발 가능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프로젝트로 만들고 싶은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4008" cy="2697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3383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찍고 라벨링한 </a:t>
            </a:r>
            <a:r>
              <a:rPr lang="en-US" sz="1700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</a:t>
            </a:r>
            <a:r>
              <a:rPr lang="en-US" sz="1700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700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700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</a:t>
            </a:r>
            <a:r>
              <a:rPr lang="en-US" sz="1700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학습시켜, </a:t>
            </a:r>
            <a:br>
              <a:rPr lang="en-US" sz="1700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altLang="ko-KR" sz="17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ko-KR" altLang="en-US" sz="1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</a:t>
            </a:r>
            <a:r>
              <a:rPr lang="en-US" altLang="ko-KR" sz="17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</a:t>
            </a:r>
            <a:r>
              <a:rPr lang="ko-KR" altLang="en-US" sz="1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 </a:t>
            </a:r>
            <a:r>
              <a:rPr lang="ko-KR" altLang="en-US" sz="17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폐기물</a:t>
            </a:r>
            <a:r>
              <a:rPr lang="ko-KR" altLang="en-US" sz="1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endParaRPr lang="en-US" altLang="ko-KR" sz="1700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35000"/>
              </a:lnSpc>
            </a:pPr>
            <a:r>
              <a:rPr lang="ko-KR" altLang="en-US" sz="1700" dirty="0">
                <a:latin typeface="맑은 고딕" pitchFamily="34" charset="0"/>
                <a:ea typeface="맑은 고딕" pitchFamily="34" charset="-122"/>
              </a:rPr>
              <a:t>시뮬레이션 상 </a:t>
            </a:r>
            <a:r>
              <a:rPr lang="ko-KR" altLang="en-US" sz="17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</a:rPr>
              <a:t>로봇이 분류</a:t>
            </a:r>
            <a:r>
              <a:rPr lang="ko-KR" altLang="en-US" sz="1700" dirty="0">
                <a:latin typeface="맑은 고딕" pitchFamily="34" charset="0"/>
                <a:ea typeface="맑은 고딕" pitchFamily="34" charset="-122"/>
              </a:rPr>
              <a:t>하는</a:t>
            </a:r>
            <a:br>
              <a:rPr lang="en-US" altLang="ko-KR" sz="17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</a:rPr>
            </a:br>
            <a:r>
              <a:rPr lang="ko-KR" altLang="en-US" sz="1700" dirty="0">
                <a:latin typeface="맑은 고딕" pitchFamily="34" charset="0"/>
                <a:ea typeface="맑은 고딕" pitchFamily="34" charset="-122"/>
              </a:rPr>
              <a:t>시스템을 구축한다</a:t>
            </a:r>
            <a:r>
              <a:rPr lang="en-US" altLang="ko-KR" sz="1700" dirty="0">
                <a:latin typeface="맑은 고딕" pitchFamily="34" charset="0"/>
                <a:ea typeface="맑은 고딕" pitchFamily="34" charset="-122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43400" y="18013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911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65192" y="175564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데이터셋 구축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65192" y="20299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폐기물을 촬영·라벨링해 커스텀 YOLO 학습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2514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6243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65192" y="24688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r>
              <a:rPr lang="ko-KR" alt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65192" y="2743200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인식 결과를 PyBullet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트윈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환경에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반영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32278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3375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65192" y="318211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분리 · 병렬 개발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65192" y="3456432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로봇 3개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모듈을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인터페이스로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연결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343400" y="39410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405079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65192" y="389534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검증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965192" y="4169664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mAP, 좌표 오차, 지연시간, 성공률까지 정량 평가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웹캠으로 찍은 실제 </a:t>
            </a:r>
            <a:r>
              <a:rPr lang="en-US" sz="1250" dirty="0" err="1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물체가</a:t>
            </a:r>
            <a:r>
              <a:rPr 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r>
              <a:rPr 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로봇의 손을 거쳐 수거함으로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83080" cy="2286000"/>
          </a:xfrm>
          <a:prstGeom prst="rect">
            <a:avLst/>
          </a:prstGeom>
          <a:solidFill>
            <a:srgbClr val="0F4A46"/>
          </a:solidFill>
          <a:ln w="12700">
            <a:solidFill>
              <a:srgbClr val="1E6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20140" y="24048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59" y="2558491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촬영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356616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 err="1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r>
              <a:rPr lang="en-US" sz="950" dirty="0" err="1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캡처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359152" y="303580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15768" y="2148840"/>
            <a:ext cx="1783080" cy="2286000"/>
          </a:xfrm>
          <a:prstGeom prst="rect">
            <a:avLst/>
          </a:prstGeom>
          <a:solidFill>
            <a:srgbClr val="0F4A46"/>
          </a:solidFill>
          <a:ln w="12700">
            <a:solidFill>
              <a:srgbClr val="1E6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287268" y="24048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887" y="2558491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07208" y="3200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(YOLO)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25496" y="356616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모델로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 err="1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페트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·캔·일반 판별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26280" y="303580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882896" y="2148840"/>
            <a:ext cx="1783080" cy="2286000"/>
          </a:xfrm>
          <a:prstGeom prst="rect">
            <a:avLst/>
          </a:prstGeom>
          <a:solidFill>
            <a:srgbClr val="0F4A46"/>
          </a:solidFill>
          <a:ln w="12700">
            <a:solidFill>
              <a:srgbClr val="1E6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454396" y="24048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015" y="2558491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74336" y="3200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변환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92624" y="356616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3</a:t>
            </a:r>
            <a:r>
              <a:rPr lang="ko-KR" alt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 </a:t>
            </a:r>
            <a:endParaRPr lang="en-US" altLang="ko-KR" sz="950" dirty="0">
              <a:solidFill>
                <a:srgbClr val="AFD6D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좌표 계산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693408" y="3035808"/>
            <a:ext cx="329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050024" y="2148840"/>
            <a:ext cx="1783080" cy="2286000"/>
          </a:xfrm>
          <a:prstGeom prst="rect">
            <a:avLst/>
          </a:prstGeom>
          <a:solidFill>
            <a:srgbClr val="0F4A46"/>
          </a:solidFill>
          <a:ln w="12700">
            <a:solidFill>
              <a:srgbClr val="1E6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621524" y="24048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5143" y="2558491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41464" y="3200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팔 실행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159752" y="356616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상 물체를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 err="1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집어서</a:t>
            </a:r>
            <a:r>
              <a:rPr lang="en-US" sz="950" dirty="0"/>
              <a:t> </a:t>
            </a:r>
            <a:r>
              <a:rPr lang="en-US" sz="950" dirty="0" err="1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</a:t>
            </a:r>
            <a:r>
              <a:rPr lang="en-US" sz="950" dirty="0">
                <a:solidFill>
                  <a:srgbClr val="AFD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수거함에 투입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방법 — 데이터와 모델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</a:rPr>
              <a:t>데이터 수집 및 학습 방법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2" y="200710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07" y="2130003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47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</a:t>
            </a:r>
            <a:r>
              <a:rPr lang="en-US" sz="130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페트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·캔·일반 각 100장 이상, 총 300장+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807208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7512" y="298551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" y="3108411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26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</a:t>
            </a:r>
            <a:r>
              <a:rPr lang="en-US" sz="130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2588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Roboflow로 3명이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</a:t>
            </a: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785616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67512" y="396392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07" y="408681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9044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</a:t>
            </a:r>
            <a:r>
              <a:rPr lang="en-US" sz="1300" b="1" dirty="0" err="1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파인튜닝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4197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기반 전이학습, Colab GPU로 학습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18288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49377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체계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937760" y="22860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5193792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937760" y="2606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수거함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53912" y="228600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6409944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153912" y="2606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수거함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370064" y="2286000"/>
            <a:ext cx="182880" cy="182880"/>
          </a:xfrm>
          <a:prstGeom prst="ellipse">
            <a:avLst/>
          </a:prstGeom>
          <a:solidFill>
            <a:srgbClr val="6B7A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7626096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370064" y="2606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 수거함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09160" y="3383280"/>
            <a:ext cx="3931920" cy="1143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493776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mAP50 ≥ 0.70</a:t>
            </a:r>
            <a:endParaRPr lang="en-US" sz="2600" dirty="0"/>
          </a:p>
        </p:txBody>
      </p:sp>
      <p:sp>
        <p:nvSpPr>
          <p:cNvPr id="33" name="Text 28"/>
          <p:cNvSpPr/>
          <p:nvPr/>
        </p:nvSpPr>
        <p:spPr>
          <a:xfrm>
            <a:off x="4937760" y="39502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E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검증셋 기준 목표 성능 — 미달 시 </a:t>
            </a:r>
            <a:r>
              <a:rPr lang="en-US" sz="1000" dirty="0" err="1">
                <a:solidFill>
                  <a:srgbClr val="D9E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sz="1000" dirty="0">
                <a:solidFill>
                  <a:srgbClr val="D9E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추가 확보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방법 — 로봇과 통합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현실의 </a:t>
            </a:r>
            <a:r>
              <a:rPr lang="en-US" sz="125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좌표를</a:t>
            </a:r>
            <a:r>
              <a:rPr 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r>
              <a:rPr 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세계로 옮기고, </a:t>
            </a:r>
            <a:r>
              <a:rPr lang="ko-KR" alt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제어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21717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23033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116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PyBullet 디지털 트윈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331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KUKA iiwa 로봇팔 + 수거함 3개를 </a:t>
            </a:r>
            <a:r>
              <a:rPr lang="ko-KR" alt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환경에</a:t>
            </a: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구성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8288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37760" y="21717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434" y="23033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0116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호모그래피 좌표 변환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69280" y="2331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카메라가 완벽히 수직이 아니어도 기울기를 자동 보정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324612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31520" y="35890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37206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4290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 기반 파지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63040" y="3749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마찰 대신 Constraint로 안정적으로 집고 놓기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24612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937760" y="35890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9434" y="372069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4290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상태 관리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0" y="3749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접근→하강→집기→이동→놓기 단계로 </a:t>
            </a:r>
            <a:r>
              <a:rPr lang="en-US" sz="100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실패를</a:t>
            </a: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 err="1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명확히</a:t>
            </a: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추적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 &amp; 일정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구성원이</a:t>
            </a:r>
            <a:r>
              <a:rPr lang="en-US" sz="12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나눠서 병렬로 진행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24328" cy="868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9842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93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김태익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5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제어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1783080"/>
            <a:ext cx="2624328" cy="8686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98424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78808" y="19293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윤주연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78808" y="22402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5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· 데이터셋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17336" y="1783080"/>
            <a:ext cx="2624328" cy="868680"/>
          </a:xfrm>
          <a:prstGeom prst="rect">
            <a:avLst/>
          </a:prstGeom>
          <a:solidFill>
            <a:srgbClr val="3D8C8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9842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86016" y="192938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진선우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986016" y="224028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5F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트윈 통합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85800" y="3246120"/>
            <a:ext cx="7772400" cy="0"/>
          </a:xfrm>
          <a:prstGeom prst="line">
            <a:avLst/>
          </a:prstGeom>
          <a:noFill/>
          <a:ln w="254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603504" y="3163824"/>
            <a:ext cx="164592" cy="16459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3716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라벨링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157984" y="3163824"/>
            <a:ext cx="164592" cy="16459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169164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2-3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60020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개발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712464" y="3163824"/>
            <a:ext cx="164592" cy="164592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32461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15468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통합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266944" y="3163824"/>
            <a:ext cx="164592" cy="164592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48006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6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70916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안정화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821424" y="3163824"/>
            <a:ext cx="164592" cy="16459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635508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8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26364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촬영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375904" y="3163824"/>
            <a:ext cx="164592" cy="164592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790956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9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7818120" y="3383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207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프로젝트가 실제로 만들어내는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8138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22376" y="1856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751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82880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실환경 투입 전 검증으로 비용·리스크 절감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44168" y="2121408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충돌·오동작·잘못된 좌표를 시뮬레이션에서 먼저 걸러내므로, 실물 장비 파손과 재작업 없이 제어 로직을 검증할 수 있음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560320"/>
            <a:ext cx="8138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22376" y="2697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8163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2670048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분야 확장 가능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44168" y="2962656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대상만 바꾸면 공장 부품 선별, 산업폐기물 처리, 물류 분류 등 다른 현장에 같은 구조를 그대로 적용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3401568"/>
            <a:ext cx="8138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722376" y="3538728"/>
            <a:ext cx="457200" cy="457200"/>
          </a:xfrm>
          <a:prstGeom prst="ellipse">
            <a:avLst/>
          </a:prstGeom>
          <a:solidFill>
            <a:srgbClr val="3D8C8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65760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44168" y="3511296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데이터셋과 파이프라인이 자산으로 남음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44168" y="3803904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→ 라벨링 → 학습 → 통합으로 이어지는 절차와 인터페이스가 그대로 남아, 이후 과제에서 재사용 가능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" y="4334256"/>
            <a:ext cx="8138160" cy="457200"/>
          </a:xfrm>
          <a:prstGeom prst="rect">
            <a:avLst/>
          </a:prstGeom>
          <a:solidFill>
            <a:srgbClr val="0B3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46227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3272" y="43342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E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 로봇 없이도 인식 · 판단 · 제어 전 과정을 검증 — 실제 도입 단계에서 그대로 이어붙일 수 있는 구조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949440" y="292608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3068140"/>
            <a:ext cx="20116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김태익  </a:t>
            </a:r>
            <a:r>
              <a:rPr 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제어   ·   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윤주연  </a:t>
            </a:r>
            <a:r>
              <a:rPr 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  ·   </a:t>
            </a: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진선우  </a:t>
            </a:r>
            <a:r>
              <a:rPr lang="en-US" sz="1250" dirty="0">
                <a:solidFill>
                  <a:srgbClr val="9FC9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트윈 통합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546</Words>
  <Application>Microsoft Office PowerPoint</Application>
  <PresentationFormat>화면 슬라이드 쇼(16:9)</PresentationFormat>
  <Paragraphs>122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RoboTwin-Sorter 제안 발표</dc:title>
  <dc:subject>PptxGenJS Presentation</dc:subject>
  <dc:creator>김태익, 윤주연, 진선우</dc:creator>
  <cp:lastModifiedBy>김태익</cp:lastModifiedBy>
  <cp:revision>19</cp:revision>
  <dcterms:created xsi:type="dcterms:W3CDTF">2026-07-27T05:37:36Z</dcterms:created>
  <dcterms:modified xsi:type="dcterms:W3CDTF">2026-07-27T06:29:22Z</dcterms:modified>
</cp:coreProperties>
</file>